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5" r:id="rId3"/>
    <p:sldId id="264" r:id="rId4"/>
    <p:sldId id="269" r:id="rId5"/>
    <p:sldId id="258" r:id="rId6"/>
    <p:sldId id="259" r:id="rId7"/>
    <p:sldId id="260" r:id="rId8"/>
    <p:sldId id="261" r:id="rId9"/>
    <p:sldId id="262" r:id="rId10"/>
    <p:sldId id="270" r:id="rId11"/>
    <p:sldId id="266" r:id="rId12"/>
    <p:sldId id="271" r:id="rId13"/>
    <p:sldId id="263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F562F7-D652-4D30-B360-913DEDA294AC}" v="2" dt="2026-03-30T04:51:01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7A-4C36-9304-E9BF8E91CB8A}"/>
              </c:ext>
            </c:extLst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7A-4C36-9304-E9BF8E91CB8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C37A-4C36-9304-E9BF8E91CB8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C37A-4C36-9304-E9BF8E91CB8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59.81</c:v>
                </c:pt>
                <c:pt idx="1">
                  <c:v>40.19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37A-4C36-9304-E9BF8E91C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21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01-424C-AE70-2A26AF24B6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</c:v>
                </c:pt>
                <c:pt idx="1">
                  <c:v>14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01-424C-AE70-2A26AF24B6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435-4FB9-B17C-6AFE51080AB2}"/>
              </c:ext>
            </c:extLst>
          </c:dPt>
          <c:dPt>
            <c:idx val="1"/>
            <c:invertIfNegative val="0"/>
            <c:bubble3D val="0"/>
            <c:spPr>
              <a:solidFill>
                <a:srgbClr val="2E5E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35-4FB9-B17C-6AFE51080AB2}"/>
              </c:ext>
            </c:extLst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35-4FB9-B17C-6AFE51080AB2}"/>
              </c:ext>
            </c:extLst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435-4FB9-B17C-6AFE51080AB2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435-4FB9-B17C-6AFE51080AB2}"/>
              </c:ext>
            </c:extLst>
          </c:dPt>
          <c:dPt>
            <c:idx val="5"/>
            <c:invertIfNegative val="0"/>
            <c:bubble3D val="0"/>
            <c:spPr>
              <a:solidFill>
                <a:srgbClr val="E844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435-4FB9-B17C-6AFE51080AB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50+</c:v>
                </c:pt>
                <c:pt idx="1">
                  <c:v>36-50</c:v>
                </c:pt>
                <c:pt idx="2">
                  <c:v>41-50</c:v>
                </c:pt>
                <c:pt idx="3">
                  <c:v>31-40</c:v>
                </c:pt>
                <c:pt idx="4">
                  <c:v>20-30</c:v>
                </c:pt>
                <c:pt idx="5">
                  <c:v>Below 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91.3</c:v>
                </c:pt>
                <c:pt idx="1">
                  <c:v>54</c:v>
                </c:pt>
                <c:pt idx="2">
                  <c:v>48.3</c:v>
                </c:pt>
                <c:pt idx="3">
                  <c:v>30</c:v>
                </c:pt>
                <c:pt idx="4">
                  <c:v>19</c:v>
                </c:pt>
                <c:pt idx="5">
                  <c:v>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435-4FB9-B17C-6AFE51080A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629-493E-82D9-B83A6AC6330D}"/>
              </c:ext>
            </c:extLst>
          </c:dPt>
          <c:dPt>
            <c:idx val="1"/>
            <c:invertIfNegative val="0"/>
            <c:bubble3D val="0"/>
            <c:spPr>
              <a:solidFill>
                <a:srgbClr val="2E5E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29-493E-82D9-B83A6AC6330D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29-493E-82D9-B83A6AC6330D}"/>
              </c:ext>
            </c:extLst>
          </c:dPt>
          <c:dPt>
            <c:idx val="3"/>
            <c:invertIfNegative val="0"/>
            <c:bubble3D val="0"/>
            <c:spPr>
              <a:solidFill>
                <a:srgbClr val="E844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29-493E-82D9-B83A6AC6330D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29-493E-82D9-B83A6AC6330D}"/>
              </c:ext>
            </c:extLst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629-493E-82D9-B83A6AC633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Clothing</c:v>
                </c:pt>
                <c:pt idx="1">
                  <c:v>Shoes</c:v>
                </c:pt>
                <c:pt idx="2">
                  <c:v>Books</c:v>
                </c:pt>
                <c:pt idx="3">
                  <c:v>Cosmetics</c:v>
                </c:pt>
                <c:pt idx="4">
                  <c:v>Toys</c:v>
                </c:pt>
                <c:pt idx="5">
                  <c:v>Food &amp; Bev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1139</c:v>
                </c:pt>
                <c:pt idx="1">
                  <c:v>520</c:v>
                </c:pt>
                <c:pt idx="2">
                  <c:v>310</c:v>
                </c:pt>
                <c:pt idx="3">
                  <c:v>280</c:v>
                </c:pt>
                <c:pt idx="4">
                  <c:v>210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629-493E-82D9-B83A6AC633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19B-42EF-9859-EB41E10C919C}"/>
              </c:ext>
            </c:extLst>
          </c:dPt>
          <c:dPt>
            <c:idx val="1"/>
            <c:invertIfNegative val="0"/>
            <c:bubble3D val="0"/>
            <c:spPr>
              <a:solidFill>
                <a:srgbClr val="2E5E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9B-42EF-9859-EB41E10C919C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9B-42EF-9859-EB41E10C919C}"/>
              </c:ext>
            </c:extLst>
          </c:dPt>
          <c:dPt>
            <c:idx val="3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9B-42EF-9859-EB41E10C919C}"/>
              </c:ext>
            </c:extLst>
          </c:dPt>
          <c:dPt>
            <c:idx val="4"/>
            <c:invertIfNegative val="0"/>
            <c:bubble3D val="0"/>
            <c:spPr>
              <a:solidFill>
                <a:srgbClr val="E844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9B-42EF-9859-EB41E10C919C}"/>
              </c:ext>
            </c:extLst>
          </c:dPt>
          <c:dPt>
            <c:idx val="5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19B-42EF-9859-EB41E10C919C}"/>
              </c:ext>
            </c:extLst>
          </c:dPt>
          <c:cat>
            <c:strRef>
              <c:f>Sheet1!$A$2:$A$7</c:f>
              <c:strCache>
                <c:ptCount val="6"/>
                <c:pt idx="0">
                  <c:v>Metrocol AVM</c:v>
                </c:pt>
                <c:pt idx="1">
                  <c:v>Zorlu Center</c:v>
                </c:pt>
                <c:pt idx="2">
                  <c:v>Viaport Outlet</c:v>
                </c:pt>
                <c:pt idx="3">
                  <c:v>Emaar Square</c:v>
                </c:pt>
                <c:pt idx="4">
                  <c:v>Forum Istanbul</c:v>
                </c:pt>
                <c:pt idx="5">
                  <c:v>Cevahir AVM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1158084</c:v>
                </c:pt>
                <c:pt idx="1">
                  <c:v>1158034</c:v>
                </c:pt>
                <c:pt idx="2">
                  <c:v>1156059</c:v>
                </c:pt>
                <c:pt idx="3">
                  <c:v>1155000</c:v>
                </c:pt>
                <c:pt idx="4">
                  <c:v>1154000</c:v>
                </c:pt>
                <c:pt idx="5">
                  <c:v>1150000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19B-42EF-9859-EB41E10C9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A3-45B3-B55B-ED51FC3325FA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A3-45B3-B55B-ED51FC3325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152000000</c:v>
                </c:pt>
                <c:pt idx="1">
                  <c:v>99510000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A3-45B3-B55B-ED51FC3325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9B-4EAA-9012-B92C83930DF3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9B-4EAA-9012-B92C83930DF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179000</c:v>
                </c:pt>
                <c:pt idx="1">
                  <c:v>120000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9B-4EAA-9012-B92C83930D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960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7A979-0C4D-132D-B00E-495C0CDB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70300-7CD2-1431-3448-F427A0352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FBE18-7E26-3902-6A0C-4B0FE75B3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74D78-19C9-C164-D8DE-AE98E2DFFF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20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FE12B-1A0B-FCAA-6ED2-A57B0DA7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59973-8160-2293-FD0B-A0A59213A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2917B-EF16-2FA3-A4EA-6554463E4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29BC3-4917-4E9C-775F-45A378C0B7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62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9CE94-9887-1DB8-765C-47AFFA281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0CBBE-A555-931F-67BD-10D9038D0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305A6-FF7A-A9EB-CAA0-C7FADF224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2C3EC-FFA2-BA4A-8F45-8E4707989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57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E5EAA">
              <a:alpha val="25000"/>
            </a:srgbClr>
          </a:solidFill>
          <a:ln w="12700">
            <a:solidFill>
              <a:srgbClr val="2E5EA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Behavior, Revenue &amp; Demographics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64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730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264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0" y="3730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2644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29200" y="3730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BY</a:t>
            </a:r>
          </a:p>
          <a:p>
            <a:r>
              <a:rPr lang="en-US" sz="1200" dirty="0">
                <a:solidFill>
                  <a:schemeClr val="bg1"/>
                </a:solidFill>
              </a:rPr>
              <a:t>TEAM ID:</a:t>
            </a:r>
            <a:r>
              <a:rPr lang="en-IN" sz="1200" dirty="0">
                <a:solidFill>
                  <a:schemeClr val="bg1"/>
                </a:solidFill>
              </a:rPr>
              <a:t>PTID-CDA-MAR-26-11149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Bharanidharan J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Vishnu T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KarthickRaja S</a:t>
            </a:r>
          </a:p>
        </p:txBody>
      </p:sp>
      <p:sp>
        <p:nvSpPr>
          <p:cNvPr id="17" name="Shape 15"/>
          <p:cNvSpPr/>
          <p:nvPr/>
        </p:nvSpPr>
        <p:spPr>
          <a:xfrm>
            <a:off x="0" y="4599432"/>
            <a:ext cx="9144000" cy="539496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15968"/>
            <a:ext cx="10972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4315968"/>
            <a:ext cx="8823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572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ABOUT DATASET</a:t>
            </a: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91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16523" y="914400"/>
            <a:ext cx="8461717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5D8E8"/>
            </a:solidFill>
            <a:prstDash val="dash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dataset contains shopping information from 10 different shopping malls between 2021 and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 have gathered data from various age groups and genders to provide a comprehensive view of shopping habits in Istanbul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dataset includes essential information such as invoice numbers, customer IDs, age, gender, payment methods, product categories, quantity, price, order dates, and shopping mall locations.</a:t>
            </a:r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DASHBOARD</a:t>
            </a: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91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goes here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862DB4-F7E4-0579-BE96-8CE5C9923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8" t="13334" r="25462" b="12862"/>
          <a:stretch>
            <a:fillRect/>
          </a:stretch>
        </p:blipFill>
        <p:spPr>
          <a:xfrm>
            <a:off x="1188720" y="914400"/>
            <a:ext cx="6583680" cy="37961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D998A-8A43-77FA-4A8F-0F8656E4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08ED98-DD9E-C133-DCF1-B423F069E69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B48EAA-B31F-6DD5-36E8-C4210BB283A6}"/>
              </a:ext>
            </a:extLst>
          </p:cNvPr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E23FD9-B180-8161-A90C-FC26FBFDD67C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774B234-375E-C5D7-EBB6-936DF7C6679C}"/>
              </a:ext>
            </a:extLst>
          </p:cNvPr>
          <p:cNvSpPr/>
          <p:nvPr/>
        </p:nvSpPr>
        <p:spPr>
          <a:xfrm>
            <a:off x="182880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5F2315-C5A2-D71D-E477-46A5ADFA95D4}"/>
              </a:ext>
            </a:extLst>
          </p:cNvPr>
          <p:cNvSpPr/>
          <p:nvPr/>
        </p:nvSpPr>
        <p:spPr>
          <a:xfrm>
            <a:off x="182880" y="914400"/>
            <a:ext cx="2011680" cy="182880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6B61112-A6E8-3AB5-104E-C55632B00A8B}"/>
              </a:ext>
            </a:extLst>
          </p:cNvPr>
          <p:cNvSpPr/>
          <p:nvPr/>
        </p:nvSpPr>
        <p:spPr>
          <a:xfrm>
            <a:off x="182880" y="1115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79ADDE7-C113-C86B-B401-1770C27325F7}"/>
              </a:ext>
            </a:extLst>
          </p:cNvPr>
          <p:cNvSpPr/>
          <p:nvPr/>
        </p:nvSpPr>
        <p:spPr>
          <a:xfrm>
            <a:off x="182880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E07D295-0E38-22A1-4AF5-28BF097D8C66}"/>
              </a:ext>
            </a:extLst>
          </p:cNvPr>
          <p:cNvSpPr/>
          <p:nvPr/>
        </p:nvSpPr>
        <p:spPr>
          <a:xfrm>
            <a:off x="182880" y="2029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1FA7B48-E27D-2244-DB18-1BD31183B5D5}"/>
              </a:ext>
            </a:extLst>
          </p:cNvPr>
          <p:cNvSpPr/>
          <p:nvPr/>
        </p:nvSpPr>
        <p:spPr>
          <a:xfrm>
            <a:off x="2395728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D6985F5-6410-F85B-8BF6-55565499CD8F}"/>
              </a:ext>
            </a:extLst>
          </p:cNvPr>
          <p:cNvSpPr/>
          <p:nvPr/>
        </p:nvSpPr>
        <p:spPr>
          <a:xfrm>
            <a:off x="2395728" y="914400"/>
            <a:ext cx="201168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A4BE796-C182-A189-3B5B-E56E10E49028}"/>
              </a:ext>
            </a:extLst>
          </p:cNvPr>
          <p:cNvSpPr/>
          <p:nvPr/>
        </p:nvSpPr>
        <p:spPr>
          <a:xfrm>
            <a:off x="2395728" y="1115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5CF5C03-B341-0985-4998-03DB042EA91A}"/>
              </a:ext>
            </a:extLst>
          </p:cNvPr>
          <p:cNvSpPr/>
          <p:nvPr/>
        </p:nvSpPr>
        <p:spPr>
          <a:xfrm>
            <a:off x="2395728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299K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15E67C7-218B-AB40-886B-D4CEBFF6BCF3}"/>
              </a:ext>
            </a:extLst>
          </p:cNvPr>
          <p:cNvSpPr/>
          <p:nvPr/>
        </p:nvSpPr>
        <p:spPr>
          <a:xfrm>
            <a:off x="2395728" y="2029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F01FEA2-E2B2-AF20-0CEE-E3A59C845276}"/>
              </a:ext>
            </a:extLst>
          </p:cNvPr>
          <p:cNvSpPr/>
          <p:nvPr/>
        </p:nvSpPr>
        <p:spPr>
          <a:xfrm>
            <a:off x="4608576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53F6D51-5A40-D70F-7A86-3CFFF266D129}"/>
              </a:ext>
            </a:extLst>
          </p:cNvPr>
          <p:cNvSpPr/>
          <p:nvPr/>
        </p:nvSpPr>
        <p:spPr>
          <a:xfrm>
            <a:off x="4608576" y="914400"/>
            <a:ext cx="2011680" cy="182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EE1A00-8FA9-7F7C-52BC-460E4AC34F7A}"/>
              </a:ext>
            </a:extLst>
          </p:cNvPr>
          <p:cNvSpPr/>
          <p:nvPr/>
        </p:nvSpPr>
        <p:spPr>
          <a:xfrm>
            <a:off x="4608576" y="1115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B035E22-C173-1910-10A5-BD7679F7DC24}"/>
              </a:ext>
            </a:extLst>
          </p:cNvPr>
          <p:cNvSpPr/>
          <p:nvPr/>
        </p:nvSpPr>
        <p:spPr>
          <a:xfrm>
            <a:off x="4608576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251.51M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15F0835-056E-B464-52C8-651918C109AE}"/>
              </a:ext>
            </a:extLst>
          </p:cNvPr>
          <p:cNvSpPr/>
          <p:nvPr/>
        </p:nvSpPr>
        <p:spPr>
          <a:xfrm>
            <a:off x="4608576" y="2029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BDC0548-52F5-D5D4-BB1F-3118D4D33B47}"/>
              </a:ext>
            </a:extLst>
          </p:cNvPr>
          <p:cNvSpPr/>
          <p:nvPr/>
        </p:nvSpPr>
        <p:spPr>
          <a:xfrm>
            <a:off x="6821424" y="914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21DB005-6DE3-A544-3217-29F18F9D7CEB}"/>
              </a:ext>
            </a:extLst>
          </p:cNvPr>
          <p:cNvSpPr/>
          <p:nvPr/>
        </p:nvSpPr>
        <p:spPr>
          <a:xfrm>
            <a:off x="6821424" y="914400"/>
            <a:ext cx="2011680" cy="182880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00807B9-2D14-F99A-EDEF-CDAE90E79145}"/>
              </a:ext>
            </a:extLst>
          </p:cNvPr>
          <p:cNvSpPr/>
          <p:nvPr/>
        </p:nvSpPr>
        <p:spPr>
          <a:xfrm>
            <a:off x="6821424" y="1115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2AF0AAE-96FB-AE3F-8C86-F208C50672FF}"/>
              </a:ext>
            </a:extLst>
          </p:cNvPr>
          <p:cNvSpPr/>
          <p:nvPr/>
        </p:nvSpPr>
        <p:spPr>
          <a:xfrm>
            <a:off x="6821424" y="1572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43B5D3B-4F5B-4305-A905-607536728053}"/>
              </a:ext>
            </a:extLst>
          </p:cNvPr>
          <p:cNvSpPr/>
          <p:nvPr/>
        </p:nvSpPr>
        <p:spPr>
          <a:xfrm>
            <a:off x="6821424" y="2029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F265D31-85E0-B25B-5422-76044AB01D11}"/>
              </a:ext>
            </a:extLst>
          </p:cNvPr>
          <p:cNvSpPr/>
          <p:nvPr/>
        </p:nvSpPr>
        <p:spPr>
          <a:xfrm>
            <a:off x="182880" y="2926080"/>
            <a:ext cx="8778240" cy="1234440"/>
          </a:xfrm>
          <a:prstGeom prst="rect">
            <a:avLst/>
          </a:prstGeom>
          <a:solidFill>
            <a:srgbClr val="1E2761">
              <a:alpha val="95000"/>
            </a:srgbClr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87EB831-9555-C538-FA1E-92EF45F67DE6}"/>
              </a:ext>
            </a:extLst>
          </p:cNvPr>
          <p:cNvSpPr/>
          <p:nvPr/>
        </p:nvSpPr>
        <p:spPr>
          <a:xfrm>
            <a:off x="365760" y="29992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Snapshot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0C7DAF3-914B-66FA-36D4-1FFBD23CB903}"/>
              </a:ext>
            </a:extLst>
          </p:cNvPr>
          <p:cNvSpPr/>
          <p:nvPr/>
        </p:nvSpPr>
        <p:spPr>
          <a:xfrm>
            <a:off x="365760" y="3291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 unique customers visited multiple Istanbul malls over the two-year period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of $251.51M was generated from 299K units sold across 5 product categories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Credit Card, and Debit Card are the three primary payment methods in use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make up roughly 60% of the total customer base</a:t>
            </a:r>
            <a:endParaRPr lang="en-US" sz="10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E2A7E03-21C6-58B9-802B-D6401238397B}"/>
              </a:ext>
            </a:extLst>
          </p:cNvPr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63D9AFF-3988-B15C-62E4-85A8E45F0982}"/>
              </a:ext>
            </a:extLst>
          </p:cNvPr>
          <p:cNvSpPr/>
          <p:nvPr/>
        </p:nvSpPr>
        <p:spPr>
          <a:xfrm>
            <a:off x="0" y="4315968"/>
            <a:ext cx="10972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2E32FF2-7B87-B5A4-9462-672F61CA9922}"/>
              </a:ext>
            </a:extLst>
          </p:cNvPr>
          <p:cNvSpPr/>
          <p:nvPr/>
        </p:nvSpPr>
        <p:spPr>
          <a:xfrm>
            <a:off x="201168" y="4315968"/>
            <a:ext cx="8823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glance, these four numbers tell the full story: nearly 100,000 people shopped here, spending a quarter-billion dollars on 300,000 items across five categories. The business is healthy and diverse — driven largely by female shoppers, which is a key insight that should shape marketing and product strategy going forward.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07688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&amp; PAYMENT METHOD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50392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41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 by Gender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61872"/>
          <a:ext cx="38404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383280"/>
            <a:ext cx="182880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383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59.81%  ~59.5K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86000" y="3383280"/>
            <a:ext cx="1828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0" y="33832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40.19%  ~39.9K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850392"/>
            <a:ext cx="4389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941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by Gender</a:t>
            </a:r>
            <a:endParaRPr lang="en-US" sz="12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663440" y="1261872"/>
          <a:ext cx="42062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0" y="4315968"/>
            <a:ext cx="10972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1168" y="4315968"/>
            <a:ext cx="8823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outnumber male shoppers nearly 3:2, making them the core customer segment. On payment preferences, both genders behave almost identically — Credit Card edges slightly ahead, but Cash and Debit are equally popular. Ensuring all payment options remain seamless and readily available is essential to keeping every customer happy.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50392"/>
            <a:ext cx="8778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41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($M) by Age Group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34440"/>
          <a:ext cx="8503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315968"/>
            <a:ext cx="10972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" y="4315968"/>
            <a:ext cx="8823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50+ age group is the biggest spender by far — contributing $91.3M, more than double any other group. This tells us older shoppers have stronger purchasing power and higher loyalty. Meanwhile, the 20-30 and Below 20 segments represent a growing future market — targeted digital promotions could unlock significant untapped potential here.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PERFORMANCE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50392"/>
            <a:ext cx="8778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41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Category (All Malls)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07008"/>
          <a:ext cx="85039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182880" y="3401568"/>
            <a:ext cx="16002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82880" y="343814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82880" y="37673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65960" y="3401568"/>
            <a:ext cx="1600200" cy="777240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965960" y="343814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965960" y="37673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Rank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49040" y="3401568"/>
            <a:ext cx="16002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749040" y="343814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749040" y="37673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Rank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32120" y="3401568"/>
            <a:ext cx="1600200" cy="777240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532120" y="343814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532120" y="37673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Rank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15200" y="3401568"/>
            <a:ext cx="160020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15200" y="343814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315200" y="37673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Rank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4315968"/>
            <a:ext cx="10972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1168" y="4315968"/>
            <a:ext cx="8823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dominates sales by a massive margin — earning more than double the second-place Shoes category. Fashion is clearly the primary shopping motivation for visitors. Food &amp; Beverages ranks last, but it's vital for foot traffic and dwell time. Investing in Clothing variety and creating attractive food experiences can significantly boost total mall revenue.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MALL PERFORMANCE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50392"/>
            <a:ext cx="8778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41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Shopping Mall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07008"/>
          <a:ext cx="85039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315968"/>
            <a:ext cx="10972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" y="4315968"/>
            <a:ext cx="8823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malls perform remarkably close to each other — the gap between first and last is less than 1% of total revenue. This shows that shoppers are evenly distributed across the city and no single mall has a monopoly. Metrocol AVM holds a slight lead. For operators, this balance signals that the next growth lever is customer experience and brand differentiation, not just location.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GENDER-BASED REVENUE &amp; QUANTITY COMPARISON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50392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41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Gender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61872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850392"/>
            <a:ext cx="4297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941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by Gender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709160" y="1261872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0" y="4315968"/>
            <a:ext cx="10972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01168" y="4315968"/>
            <a:ext cx="8823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shoppers don't just visit more — they also spend significantly more. With $152M in revenue and 179K units purchased, women outspend men by over 50% in both value and volume. This strongly suggests that female-centric product lines, loyalty rewards, and targeted campaigns will deliver the highest return on every marketing dollar invested.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6482E-20BB-FA5F-CE80-3DF1A10C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13A791-7D1E-CCB7-1BF9-48753DCE231D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SUGGESTIONS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F38027D-674B-5C7C-ADE0-39D193CFE552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237592-CD66-E1DE-AF37-9609E9102ADF}"/>
              </a:ext>
            </a:extLst>
          </p:cNvPr>
          <p:cNvSpPr/>
          <p:nvPr/>
        </p:nvSpPr>
        <p:spPr>
          <a:xfrm>
            <a:off x="7772400" y="91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58BFF33-0785-BFEF-4DF0-A560AEF4E5BB}"/>
              </a:ext>
            </a:extLst>
          </p:cNvPr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8501CD7-2DA9-C94B-CB9B-EA51D43C12B8}"/>
              </a:ext>
            </a:extLst>
          </p:cNvPr>
          <p:cNvSpPr/>
          <p:nvPr/>
        </p:nvSpPr>
        <p:spPr>
          <a:xfrm>
            <a:off x="281354" y="4251960"/>
            <a:ext cx="84054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Promote low-performing categories with targeted campaigns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FCCC8-0FF2-F6A3-CAC9-9435A89DD27F}"/>
              </a:ext>
            </a:extLst>
          </p:cNvPr>
          <p:cNvSpPr txBox="1"/>
          <p:nvPr/>
        </p:nvSpPr>
        <p:spPr>
          <a:xfrm>
            <a:off x="281354" y="822960"/>
            <a:ext cx="729409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Enhance Customer Engagement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Female customers contribute more to 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Introduce </a:t>
            </a:r>
            <a:r>
              <a:rPr lang="en-US" b="1" dirty="0"/>
              <a:t>women-focused campaigns and personalized offers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Implement loyalty programs to retain frequent buyers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 2. Increase Revenue from Top Categories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Clothing and Cosmetics generate the highest revenue </a:t>
            </a:r>
          </a:p>
          <a:p>
            <a:r>
              <a:rPr lang="en-US" dirty="0"/>
              <a:t>  Focus 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Discounts and combo offers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Cross-selling strategies </a:t>
            </a:r>
          </a:p>
        </p:txBody>
      </p:sp>
    </p:spTree>
    <p:extLst>
      <p:ext uri="{BB962C8B-B14F-4D97-AF65-F5344CB8AC3E}">
        <p14:creationId xmlns:p14="http://schemas.microsoft.com/office/powerpoint/2010/main" val="655730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SUGGESTIONS</a:t>
            </a: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91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042ED3-D4D3-BB61-CCCB-3D55175DD312}"/>
              </a:ext>
            </a:extLst>
          </p:cNvPr>
          <p:cNvSpPr txBox="1"/>
          <p:nvPr/>
        </p:nvSpPr>
        <p:spPr>
          <a:xfrm>
            <a:off x="281354" y="822960"/>
            <a:ext cx="729409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Optimize Payment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Credit and Debit cards are widely used Offer for:</a:t>
            </a:r>
          </a:p>
          <a:p>
            <a:r>
              <a:rPr lang="en-US" dirty="0"/>
              <a:t>      Cashback and rewards EMI/payment flexibility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Introduce modern methods like </a:t>
            </a:r>
            <a:r>
              <a:rPr lang="en-US" b="1" dirty="0"/>
              <a:t>UPI and Buy Now Pay Later (BNPL)</a:t>
            </a:r>
            <a:r>
              <a:rPr lang="en-US" dirty="0"/>
              <a:t>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 4. Improve Store/Mall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top-performing shopping malls and replicate strategies </a:t>
            </a:r>
          </a:p>
          <a:p>
            <a:r>
              <a:rPr lang="en-US" dirty="0"/>
              <a:t>      For low-performing locations: </a:t>
            </a:r>
          </a:p>
          <a:p>
            <a:pPr lvl="1"/>
            <a:r>
              <a:rPr lang="en-US" dirty="0"/>
              <a:t>Use localized promotions </a:t>
            </a:r>
          </a:p>
          <a:p>
            <a:pPr lvl="1"/>
            <a:r>
              <a:rPr lang="en-US" dirty="0"/>
              <a:t>Adjust product assortment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location-based marketing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0A31F-8B60-693B-2479-1A97EADEC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C86A50-04AF-C34B-8450-B7C5564CB4A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SUGGESTIONS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4D6422-D006-D0D0-BA7C-415CEB9EEB14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362384-DA5D-07EA-AF91-DACB728B016E}"/>
              </a:ext>
            </a:extLst>
          </p:cNvPr>
          <p:cNvSpPr/>
          <p:nvPr/>
        </p:nvSpPr>
        <p:spPr>
          <a:xfrm>
            <a:off x="7772400" y="91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C19EC6-C306-A582-5720-D1E2F6D065C6}"/>
              </a:ext>
            </a:extLst>
          </p:cNvPr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51EB1F-7FD6-75DA-9A5D-3F6EADF96116}"/>
              </a:ext>
            </a:extLst>
          </p:cNvPr>
          <p:cNvSpPr txBox="1"/>
          <p:nvPr/>
        </p:nvSpPr>
        <p:spPr>
          <a:xfrm>
            <a:off x="63305" y="822960"/>
            <a:ext cx="72940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Target High-Value Age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aged </a:t>
            </a:r>
            <a:r>
              <a:rPr lang="en-US" b="1" dirty="0"/>
              <a:t>20–40</a:t>
            </a:r>
            <a:r>
              <a:rPr lang="en-US" dirty="0"/>
              <a:t> are the most active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Focus marketing efforts on this segment through: </a:t>
            </a:r>
          </a:p>
          <a:p>
            <a:pPr lvl="1"/>
            <a:r>
              <a:rPr lang="en-US" dirty="0"/>
              <a:t>Digital advertising </a:t>
            </a:r>
          </a:p>
          <a:p>
            <a:pPr lvl="1"/>
            <a:r>
              <a:rPr lang="en-US" dirty="0"/>
              <a:t>Trend-based product offerings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personalized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8DF5D-94CF-726B-EFC1-B846C4FE4E79}"/>
              </a:ext>
            </a:extLst>
          </p:cNvPr>
          <p:cNvSpPr txBox="1"/>
          <p:nvPr/>
        </p:nvSpPr>
        <p:spPr>
          <a:xfrm>
            <a:off x="0" y="2095138"/>
            <a:ext cx="68615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“These strategies will help improve revenue, customer engagement and overall business performance.”</a:t>
            </a:r>
            <a:endParaRPr lang="en-IN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A7A99D8-5BF8-ACDC-5510-51D0491A8792}"/>
              </a:ext>
            </a:extLst>
          </p:cNvPr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66802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2E5EAA">
              <a:alpha val="20000"/>
            </a:srgbClr>
          </a:solidFill>
          <a:ln w="12700">
            <a:solidFill>
              <a:srgbClr val="2E5E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046720" cy="457200"/>
          </a:xfrm>
          <a:prstGeom prst="rect">
            <a:avLst/>
          </a:prstGeom>
          <a:solidFill>
            <a:srgbClr val="2E5EAA">
              <a:alpha val="85000"/>
            </a:srgbClr>
          </a:solidFill>
          <a:ln w="1270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7218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  Female customers dominate at ~60%, driving both revenue and quantity purchased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046720" cy="457200"/>
          </a:xfrm>
          <a:prstGeom prst="rect">
            <a:avLst/>
          </a:prstGeom>
          <a:solidFill>
            <a:srgbClr val="2E5EAA">
              <a:alpha val="85000"/>
            </a:srgbClr>
          </a:solidFill>
          <a:ln w="1270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2082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 Age group 50+ is the top revenue driver at $91.3M — loyalty programs for this group are a must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046720" cy="457200"/>
          </a:xfrm>
          <a:prstGeom prst="rect">
            <a:avLst/>
          </a:prstGeom>
          <a:solidFill>
            <a:srgbClr val="2E5EAA">
              <a:alpha val="85000"/>
            </a:srgbClr>
          </a:solidFill>
          <a:ln w="1270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946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👗  Clothing is the runaway #1 category — fashion is clearly the primary reason people visit these malls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046720" cy="457200"/>
          </a:xfrm>
          <a:prstGeom prst="rect">
            <a:avLst/>
          </a:prstGeom>
          <a:solidFill>
            <a:srgbClr val="2E5EAA">
              <a:alpha val="85000"/>
            </a:srgbClr>
          </a:solidFill>
          <a:ln w="1270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1810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🏬  Revenue is evenly spread across all malls — differentiation through experience is the next growth lever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046720" cy="457200"/>
          </a:xfrm>
          <a:prstGeom prst="rect">
            <a:avLst/>
          </a:prstGeom>
          <a:solidFill>
            <a:srgbClr val="2E5EAA">
              <a:alpha val="85000"/>
            </a:srgbClr>
          </a:solidFill>
          <a:ln w="1270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6674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All three payment methods are used equally — keep all channels smooth and friction-free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28448" y="-1007010"/>
            <a:ext cx="4114800" cy="4114800"/>
          </a:xfrm>
          <a:prstGeom prst="ellipse">
            <a:avLst/>
          </a:prstGeom>
          <a:solidFill>
            <a:srgbClr val="2E5EAA">
              <a:alpha val="30000"/>
            </a:srgbClr>
          </a:solidFill>
          <a:ln w="12700">
            <a:solidFill>
              <a:srgbClr val="2E5EA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0848" y="3063240"/>
            <a:ext cx="3474720" cy="347472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4A90D9">
              <a:alpha val="25000"/>
            </a:srgbClr>
          </a:solidFill>
          <a:ln w="12700">
            <a:solidFill>
              <a:srgbClr val="4A90D9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2926080" y="2240280"/>
            <a:ext cx="32918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0358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5478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30358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35478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30358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35040" y="35478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903</Words>
  <Application>Microsoft Office PowerPoint</Application>
  <PresentationFormat>On-screen Show (16:9)</PresentationFormat>
  <Paragraphs>129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Data Analysis</dc:title>
  <dc:subject>PptxGenJS Presentation</dc:subject>
  <dc:creator>PptxGenJS</dc:creator>
  <cp:lastModifiedBy>Vishnu T</cp:lastModifiedBy>
  <cp:revision>6</cp:revision>
  <cp:lastPrinted>2026-03-30T04:52:18Z</cp:lastPrinted>
  <dcterms:created xsi:type="dcterms:W3CDTF">2026-03-29T23:45:43Z</dcterms:created>
  <dcterms:modified xsi:type="dcterms:W3CDTF">2026-03-30T05:01:02Z</dcterms:modified>
</cp:coreProperties>
</file>